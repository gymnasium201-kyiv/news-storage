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1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AA222C"/>
    <a:srgbClr val="9A232A"/>
    <a:srgbClr val="B01513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90" d="100"/>
          <a:sy n="90" d="100"/>
        </p:scale>
        <p:origin x="-389" y="-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9ACE-CFAD-4E87-8C36-0A54D3B91FDC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506F-CCA5-418B-9CB7-3237DB66505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472542660"/>
      </p:ext>
    </p:extLst>
  </p:cSld>
  <p:clrMapOvr>
    <a:masterClrMapping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9ACE-CFAD-4E87-8C36-0A54D3B91FDC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506F-CCA5-418B-9CB7-3237DB66505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569132193"/>
      </p:ext>
    </p:extLst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9ACE-CFAD-4E87-8C36-0A54D3B91FDC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506F-CCA5-418B-9CB7-3237DB66505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40926949"/>
      </p:ext>
    </p:extLst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9ACE-CFAD-4E87-8C36-0A54D3B91FDC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506F-CCA5-418B-9CB7-3237DB66505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640377910"/>
      </p:ext>
    </p:extLst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9ACE-CFAD-4E87-8C36-0A54D3B91FDC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506F-CCA5-418B-9CB7-3237DB66505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21354162"/>
      </p:ext>
    </p:extLst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9ACE-CFAD-4E87-8C36-0A54D3B91FDC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506F-CCA5-418B-9CB7-3237DB66505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920834"/>
      </p:ext>
    </p:extLst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9ACE-CFAD-4E87-8C36-0A54D3B91FDC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506F-CCA5-418B-9CB7-3237DB66505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402323"/>
      </p:ext>
    </p:extLst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9ACE-CFAD-4E87-8C36-0A54D3B91FDC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506F-CCA5-418B-9CB7-3237DB66505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042540864"/>
      </p:ext>
    </p:extLst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9ACE-CFAD-4E87-8C36-0A54D3B91FDC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506F-CCA5-418B-9CB7-3237DB66505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418743652"/>
      </p:ext>
    </p:extLst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9ACE-CFAD-4E87-8C36-0A54D3B91FDC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506F-CCA5-418B-9CB7-3237DB66505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46038888"/>
      </p:ext>
    </p:extLst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9ACE-CFAD-4E87-8C36-0A54D3B91FDC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506F-CCA5-418B-9CB7-3237DB66505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994422123"/>
      </p:ext>
    </p:extLst>
  </p:cSld>
  <p:clrMapOvr>
    <a:masterClrMapping/>
  </p:clrMapOvr>
  <p:transition spd="slow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9ACE-CFAD-4E87-8C36-0A54D3B91FDC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506F-CCA5-418B-9CB7-3237DB66505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3652277170"/>
      </p:ext>
    </p:extLst>
  </p:cSld>
  <p:clrMapOvr>
    <a:masterClrMapping/>
  </p:clrMapOvr>
  <p:transition spd="slow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9ACE-CFAD-4E87-8C36-0A54D3B91FDC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506F-CCA5-418B-9CB7-3237DB66505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398757269"/>
      </p:ext>
    </p:extLst>
  </p:cSld>
  <p:clrMapOvr>
    <a:masterClrMapping/>
  </p:clrMapOvr>
  <p:transition spd="slow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9ACE-CFAD-4E87-8C36-0A54D3B91FDC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506F-CCA5-418B-9CB7-3237DB66505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4037579"/>
      </p:ext>
    </p:extLst>
  </p:cSld>
  <p:clrMapOvr>
    <a:masterClrMapping/>
  </p:clrMapOvr>
  <p:transition spd="slow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9ACE-CFAD-4E87-8C36-0A54D3B91FDC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506F-CCA5-418B-9CB7-3237DB66505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239402553"/>
      </p:ext>
    </p:extLst>
  </p:cSld>
  <p:clrMapOvr>
    <a:masterClrMapping/>
  </p:clrMapOvr>
  <p:transition spd="slow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9ACE-CFAD-4E87-8C36-0A54D3B91FDC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506F-CCA5-418B-9CB7-3237DB66505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8457287"/>
      </p:ext>
    </p:extLst>
  </p:cSld>
  <p:clrMapOvr>
    <a:masterClrMapping/>
  </p:clrMapOvr>
  <p:transition spd="slow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9ACE-CFAD-4E87-8C36-0A54D3B91FDC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6506F-CCA5-418B-9CB7-3237DB66505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475105112"/>
      </p:ext>
    </p:extLst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F5F9ACE-CFAD-4E87-8C36-0A54D3B91FDC}" type="datetimeFigureOut">
              <a:rPr lang="ru-RU" smtClean="0"/>
              <a:pPr/>
              <a:t>13.04.2020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6506F-CCA5-418B-9CB7-3237DB66505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926619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ransition spd="slow">
    <p:wipe dir="r"/>
  </p:transition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youtube.com/watch?v=uStc8B6OWIc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47700" y="653143"/>
            <a:ext cx="10243853" cy="5691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327114839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6734" y="298338"/>
            <a:ext cx="9404723" cy="1400530"/>
          </a:xfrm>
        </p:spPr>
        <p:txBody>
          <a:bodyPr/>
          <a:lstStyle/>
          <a:p>
            <a:pPr algn="just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В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уявленні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багатьох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народів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яйце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втілювало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джерело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життя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всього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світу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У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стродавніх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персів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індіанців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візантійців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а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також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древніх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греків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римлян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вважалось,що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сесвіт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виник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яйця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6111" y="2215165"/>
            <a:ext cx="5059103" cy="3374266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04044" y="2220686"/>
            <a:ext cx="5829876" cy="3336966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xmlns="" val="1879482217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Підготовка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до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написання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27809" y="1298368"/>
            <a:ext cx="57150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267699" y="1298368"/>
            <a:ext cx="454824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Традиційно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Україні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писанки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виготовляли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лише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жінки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(зараз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цим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займаються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не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залежно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від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статі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). Для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виготовлення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писанки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знадобиться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писачок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фарби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яйце,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віск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бажано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бджолиний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свічка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та посуд, для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розведення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фарби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Якщо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плануєте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робити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писанку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світлій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гамі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то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варто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обирати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яйця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з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білою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шкарлупою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Зазвичай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писанки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пишуть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на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видутих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яйця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останні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можна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ще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довго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зберігати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як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елемент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декору).</a:t>
            </a:r>
          </a:p>
        </p:txBody>
      </p:sp>
    </p:spTree>
    <p:extLst>
      <p:ext uri="{BB962C8B-B14F-4D97-AF65-F5344CB8AC3E}">
        <p14:creationId xmlns:p14="http://schemas.microsoft.com/office/powerpoint/2010/main" xmlns="" val="293467595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48570"/>
          </a:xfrm>
        </p:spPr>
        <p:txBody>
          <a:bodyPr/>
          <a:lstStyle/>
          <a:p>
            <a:pPr algn="ctr"/>
            <a:r>
              <a:rPr lang="ru-RU" b="1" dirty="0" err="1"/>
              <a:t>Види</a:t>
            </a:r>
            <a:r>
              <a:rPr lang="ru-RU" b="1" dirty="0"/>
              <a:t> </a:t>
            </a:r>
            <a:r>
              <a:rPr lang="ru-RU" b="1" dirty="0" err="1"/>
              <a:t>розписаних</a:t>
            </a:r>
            <a:r>
              <a:rPr lang="ru-RU" b="1" dirty="0"/>
              <a:t> </a:t>
            </a:r>
            <a:r>
              <a:rPr lang="ru-RU" b="1" dirty="0" err="1"/>
              <a:t>яєць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50373" y="1335846"/>
            <a:ext cx="7048006" cy="4598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12520" y="5934670"/>
            <a:ext cx="10854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err="1"/>
              <a:t>Існує</a:t>
            </a:r>
            <a:r>
              <a:rPr lang="ru-RU" b="1" dirty="0"/>
              <a:t> </a:t>
            </a:r>
            <a:r>
              <a:rPr lang="ru-RU" b="1" dirty="0" err="1"/>
              <a:t>чотири</a:t>
            </a:r>
            <a:r>
              <a:rPr lang="ru-RU" b="1" dirty="0"/>
              <a:t> </a:t>
            </a:r>
            <a:r>
              <a:rPr lang="ru-RU" b="1" dirty="0" err="1"/>
              <a:t>основних</a:t>
            </a:r>
            <a:r>
              <a:rPr lang="ru-RU" b="1" dirty="0"/>
              <a:t> </a:t>
            </a:r>
            <a:r>
              <a:rPr lang="ru-RU" b="1" dirty="0" err="1"/>
              <a:t>види</a:t>
            </a:r>
            <a:r>
              <a:rPr lang="ru-RU" b="1" dirty="0"/>
              <a:t>: </a:t>
            </a:r>
            <a:r>
              <a:rPr lang="ru-RU" b="1" dirty="0" err="1"/>
              <a:t>крапанки</a:t>
            </a:r>
            <a:r>
              <a:rPr lang="ru-RU" b="1" dirty="0"/>
              <a:t>, </a:t>
            </a:r>
            <a:r>
              <a:rPr lang="ru-RU" b="1" dirty="0" err="1"/>
              <a:t>дряпанки</a:t>
            </a:r>
            <a:r>
              <a:rPr lang="ru-RU" b="1" dirty="0"/>
              <a:t>, </a:t>
            </a:r>
            <a:r>
              <a:rPr lang="ru-RU" b="1" dirty="0" err="1"/>
              <a:t>крашанки</a:t>
            </a:r>
            <a:r>
              <a:rPr lang="ru-RU" b="1" dirty="0"/>
              <a:t> та </a:t>
            </a:r>
            <a:r>
              <a:rPr lang="ru-RU" b="1" dirty="0" err="1"/>
              <a:t>писанки</a:t>
            </a:r>
            <a:r>
              <a:rPr lang="ru-RU" b="1" dirty="0"/>
              <a:t>.</a:t>
            </a:r>
            <a:r>
              <a:rPr lang="ru-RU" dirty="0"/>
              <a:t> </a:t>
            </a:r>
            <a:endParaRPr lang="ru-RU" dirty="0" smtClean="0"/>
          </a:p>
          <a:p>
            <a:pPr algn="ctr"/>
            <a:r>
              <a:rPr lang="ru-RU" dirty="0" err="1" smtClean="0"/>
              <a:t>Кожен</a:t>
            </a:r>
            <a:r>
              <a:rPr lang="ru-RU" dirty="0" smtClean="0"/>
              <a:t> </a:t>
            </a:r>
            <a:r>
              <a:rPr lang="ru-RU" dirty="0"/>
              <a:t>вид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свої</a:t>
            </a:r>
            <a:r>
              <a:rPr lang="ru-RU" dirty="0"/>
              <a:t> </a:t>
            </a:r>
            <a:r>
              <a:rPr lang="ru-RU" dirty="0" err="1"/>
              <a:t>особливості</a:t>
            </a:r>
            <a:r>
              <a:rPr lang="ru-RU" dirty="0"/>
              <a:t> та правила </a:t>
            </a:r>
            <a:r>
              <a:rPr lang="ru-RU" dirty="0" err="1"/>
              <a:t>виготовлення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753347926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4951" y="282476"/>
            <a:ext cx="92543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Крашанки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Це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найпростіший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спосіб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виготовлення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фарбованих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яєць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Раніше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для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їх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приготування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господині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збирали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лушпиння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від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цибулі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та варили в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ньому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яйця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інколи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для декору до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яйця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прив’язували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листочки петрушки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чи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дрібні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листочки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смородини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які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залишали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на готовому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яйці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білі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відбитки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-листочки).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Також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як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барвники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використовувались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відвари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трав, кори дерев.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26220" y="2590800"/>
            <a:ext cx="85344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403097502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447" y="299545"/>
            <a:ext cx="95322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Цікавим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підвидом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крашанок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є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техніка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«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під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мармур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» – до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яйця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хаотично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прикріпляють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шматочки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сухих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фарб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шматочки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різнокольорового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паперу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чи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тканини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загортають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в полотно,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обв’язують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ниткою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та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відварюють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окропі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 Готова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писанка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мало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досить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цікаве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забарвлення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чимось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схоже на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мармур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6146" name="Picture 2" descr="http://vsviti.com.ua/wp-content/uploads/2018/04/c172ff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04637" y="2416230"/>
            <a:ext cx="7737110" cy="4126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839948942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20262" y="204952"/>
            <a:ext cx="97903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Крапанки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 яйце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наносять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писачком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воскові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краплі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та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занурюють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у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світлу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фарбу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потім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знов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ставлять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цятки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і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занурюють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фарбу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темнішого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кольору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 Коли на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крапанці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вже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будуть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цятки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всіх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бажаних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кольорів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загальне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тло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вкривають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темною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фарбою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найчастіше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темно-вишневою, темно-зеленою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або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чорною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).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Після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цього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віск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розтоплюють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над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свічкою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та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обережно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обтирають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яйце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від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залишків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воску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м’якою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тканиною.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53559" y="2690848"/>
            <a:ext cx="7457089" cy="3977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58369579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5669" y="474543"/>
            <a:ext cx="98692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Дряпанка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Якщо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у вас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немає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під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рукою писачка, то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можна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по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експериментувати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драпанками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 Берете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крашанку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темного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кольору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та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занурюєте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її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в темну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фарбу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 Як яйце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висохне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наносите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олівцем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орнамент та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продряпуєте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його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голкою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(шилом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чи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цвяхом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що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є в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господарстві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).</a:t>
            </a:r>
          </a:p>
        </p:txBody>
      </p:sp>
      <p:pic>
        <p:nvPicPr>
          <p:cNvPr id="8194" name="Picture 2" descr="http://vsviti.com.ua/wp-content/uploads/2018/04/0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27294" y="2582180"/>
            <a:ext cx="9282444" cy="396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67192033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7654" y="283779"/>
            <a:ext cx="101687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Писанка.</a:t>
            </a:r>
            <a:r>
              <a:rPr lang="ru-RU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Це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найскладніший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у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виготовленні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варіант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кольорових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яєць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адже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потребує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майстерності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терпіння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та часу.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Спочатку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олівцем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промальовуються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основні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орнаменти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потім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по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цим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лініям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наносять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писачком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віск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після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цього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яйце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занурюють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у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фарбу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розтоплюють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віск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видаляють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його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та, за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бажання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розписують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орнаменти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іншими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кольорами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можна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залишати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й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білими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31727" y="2444959"/>
            <a:ext cx="6094686" cy="4063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1611011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946" y="283778"/>
            <a:ext cx="783546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 err="1">
                <a:latin typeface="Times New Roman" pitchFamily="18" charset="0"/>
                <a:cs typeface="Times New Roman" pitchFamily="18" charset="0"/>
              </a:rPr>
              <a:t>Кольори</a:t>
            </a:r>
            <a:r>
              <a:rPr lang="ru-RU" sz="4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b="1" dirty="0" err="1">
                <a:latin typeface="Times New Roman" pitchFamily="18" charset="0"/>
                <a:cs typeface="Times New Roman" pitchFamily="18" charset="0"/>
              </a:rPr>
              <a:t>писанок</a:t>
            </a:r>
            <a:r>
              <a:rPr lang="ru-RU" sz="4000" b="1" dirty="0">
                <a:latin typeface="Times New Roman" pitchFamily="18" charset="0"/>
                <a:cs typeface="Times New Roman" pitchFamily="18" charset="0"/>
              </a:rPr>
              <a:t> та </a:t>
            </a:r>
            <a:r>
              <a:rPr lang="ru-RU" sz="4000" b="1" dirty="0" err="1">
                <a:latin typeface="Times New Roman" pitchFamily="18" charset="0"/>
                <a:cs typeface="Times New Roman" pitchFamily="18" charset="0"/>
              </a:rPr>
              <a:t>їх</a:t>
            </a:r>
            <a:r>
              <a:rPr lang="ru-RU" sz="4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b="1" dirty="0" err="1">
                <a:latin typeface="Times New Roman" pitchFamily="18" charset="0"/>
                <a:cs typeface="Times New Roman" pitchFamily="18" charset="0"/>
              </a:rPr>
              <a:t>значення</a:t>
            </a:r>
            <a:endParaRPr lang="ru-RU" sz="4000" b="1" dirty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  <p:pic>
        <p:nvPicPr>
          <p:cNvPr id="10242" name="Picture 2" descr="http://vsviti.com.ua/wp-content/uploads/2018/04/krashanky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7660" y="1268663"/>
            <a:ext cx="7424020" cy="4627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677807" y="1006479"/>
            <a:ext cx="430398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У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писанкарстві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найчастіше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використовували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7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основних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кольорів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червоний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жовтий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помаранчевий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зелений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вишневий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коричневий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чорний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, але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можливі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й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інші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кольори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залежно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від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регіону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кольорова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гама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писанок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розширювалась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). 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12418232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5801" y="599089"/>
            <a:ext cx="79931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Знаки та </a:t>
            </a:r>
            <a:r>
              <a:rPr lang="ru-RU" sz="3600" b="1" dirty="0" err="1">
                <a:latin typeface="Times New Roman" pitchFamily="18" charset="0"/>
                <a:cs typeface="Times New Roman" pitchFamily="18" charset="0"/>
              </a:rPr>
              <a:t>орнаменти</a:t>
            </a:r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 на </a:t>
            </a:r>
            <a:r>
              <a:rPr lang="ru-RU" sz="3600" b="1" dirty="0" err="1">
                <a:latin typeface="Times New Roman" pitchFamily="18" charset="0"/>
                <a:cs typeface="Times New Roman" pitchFamily="18" charset="0"/>
              </a:rPr>
              <a:t>писанках</a:t>
            </a:r>
            <a:endParaRPr lang="ru-RU" sz="3600" b="1" dirty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  <p:pic>
        <p:nvPicPr>
          <p:cNvPr id="11266" name="Picture 2" descr="http://vsviti.com.ua/wp-content/uploads/2017/04/pysanky0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66277"/>
          <a:stretch/>
        </p:blipFill>
        <p:spPr bwMode="auto">
          <a:xfrm>
            <a:off x="1319088" y="1749972"/>
            <a:ext cx="9537978" cy="452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78694844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70234" y="362997"/>
            <a:ext cx="695259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Знаки та </a:t>
            </a:r>
            <a:r>
              <a:rPr lang="ru-RU" sz="3200" b="1" dirty="0" err="1">
                <a:latin typeface="Times New Roman" pitchFamily="18" charset="0"/>
                <a:cs typeface="Times New Roman" pitchFamily="18" charset="0"/>
              </a:rPr>
              <a:t>орнаменти</a:t>
            </a:r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 на </a:t>
            </a:r>
            <a:r>
              <a:rPr lang="ru-RU" sz="3200" b="1" dirty="0" err="1">
                <a:latin typeface="Times New Roman" pitchFamily="18" charset="0"/>
                <a:cs typeface="Times New Roman" pitchFamily="18" charset="0"/>
              </a:rPr>
              <a:t>писанках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33778" b="34030"/>
          <a:stretch/>
        </p:blipFill>
        <p:spPr bwMode="auto">
          <a:xfrm>
            <a:off x="977462" y="1209005"/>
            <a:ext cx="9242910" cy="5176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0643279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http://vsviti.com.ua/wp-content/uploads/2017/04/pysanky0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66155"/>
          <a:stretch/>
        </p:blipFill>
        <p:spPr bwMode="auto">
          <a:xfrm>
            <a:off x="1434662" y="1595009"/>
            <a:ext cx="9220019" cy="4722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11835" y="512270"/>
            <a:ext cx="7108825" cy="9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9402658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59876" y="0"/>
            <a:ext cx="8182303" cy="2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59876" y="2157904"/>
            <a:ext cx="8182303" cy="462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792679516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67398" y="0"/>
            <a:ext cx="894325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81195492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               Великодня писанка</a:t>
            </a:r>
            <a:br>
              <a:rPr lang="uk-UA" dirty="0" smtClean="0"/>
            </a:br>
            <a:r>
              <a:rPr lang="uk-UA" dirty="0" smtClean="0"/>
              <a:t/>
            </a:r>
            <a:br>
              <a:rPr lang="uk-UA" dirty="0" smtClean="0"/>
            </a:br>
            <a:r>
              <a:rPr lang="uk-UA" dirty="0" smtClean="0"/>
              <a:t/>
            </a:r>
            <a:br>
              <a:rPr lang="uk-UA" dirty="0" smtClean="0"/>
            </a:br>
            <a:r>
              <a:rPr lang="uk-UA" dirty="0" smtClean="0"/>
              <a:t/>
            </a:r>
            <a:br>
              <a:rPr lang="uk-UA" dirty="0" smtClean="0"/>
            </a:br>
            <a:r>
              <a:rPr lang="uk-UA" dirty="0" smtClean="0"/>
              <a:t>         </a:t>
            </a:r>
            <a:r>
              <a:rPr lang="uk-UA" sz="2800" dirty="0" smtClean="0">
                <a:hlinkClick r:id="rId2"/>
              </a:rPr>
              <a:t>Переглянути відео</a:t>
            </a:r>
            <a:endParaRPr lang="ru-RU" sz="2800" dirty="0"/>
          </a:p>
        </p:txBody>
      </p:sp>
      <p:pic>
        <p:nvPicPr>
          <p:cNvPr id="1026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09709" y="2912005"/>
            <a:ext cx="1924050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236</TotalTime>
  <Words>459</Words>
  <Application>Microsoft Office PowerPoint</Application>
  <PresentationFormat>Произвольный</PresentationFormat>
  <Paragraphs>16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Ион</vt:lpstr>
      <vt:lpstr>Слайд 1</vt:lpstr>
      <vt:lpstr>     В уявленні багатьох народів яйце втілювало джерело життя і всього світу. У стродавніх персів, індіанців, візантійців, а також у древніх греків та римлян вважалось,що Всесвіт виник з яйця.</vt:lpstr>
      <vt:lpstr>Підготовка до написання </vt:lpstr>
      <vt:lpstr>Види розписаних яєць 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               Великодня писанка             Переглянути відео</vt:lpstr>
    </vt:vector>
  </TitlesOfParts>
  <Company>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 К Р А І Н С Ь К А    П И С А Н К А</dc:title>
  <dc:creator>Sashka Lobanov</dc:creator>
  <cp:lastModifiedBy>Home</cp:lastModifiedBy>
  <cp:revision>24</cp:revision>
  <dcterms:created xsi:type="dcterms:W3CDTF">2020-04-13T09:00:27Z</dcterms:created>
  <dcterms:modified xsi:type="dcterms:W3CDTF">2020-04-13T14:29:15Z</dcterms:modified>
</cp:coreProperties>
</file>